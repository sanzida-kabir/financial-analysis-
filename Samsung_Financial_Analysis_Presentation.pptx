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D99"/>
    <a:srgbClr val="254061"/>
    <a:srgbClr val="3FADC7"/>
    <a:srgbClr val="30A3BF"/>
    <a:srgbClr val="72ACBC"/>
    <a:srgbClr val="0F1E3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36384-5C68-4A14-BCA0-F4E008C85A54}" v="57" dt="2026-10-15T17:12:27.839"/>
    <p1510:client id="{E64648E9-1BD4-4330-BB83-BE3ABBC0110C}" v="419" dt="2026-10-15T21:31:48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37.1</c:v>
                </c:pt>
                <c:pt idx="1">
                  <c:v>30.3</c:v>
                </c:pt>
                <c:pt idx="2">
                  <c:v>38</c:v>
                </c:pt>
                <c:pt idx="3">
                  <c:v>39.4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A8-4723-83BA-A5DDC24423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14.4</c:v>
                </c:pt>
                <c:pt idx="1">
                  <c:v>2.5</c:v>
                </c:pt>
                <c:pt idx="2">
                  <c:v>10.9</c:v>
                </c:pt>
                <c:pt idx="3">
                  <c:v>13.1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A8-4723-83BA-A5DDC24423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margin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18.399999999999999</c:v>
                </c:pt>
                <c:pt idx="1">
                  <c:v>6</c:v>
                </c:pt>
                <c:pt idx="2">
                  <c:v>11.5</c:v>
                </c:pt>
                <c:pt idx="3">
                  <c:v>13.6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A8-4723-83BA-A5DDC2442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5"/>
          <c:min val="0"/>
        </c:scaling>
        <c:delete val="0"/>
        <c:axPos val="l"/>
        <c:majorGridlines>
          <c:spPr>
            <a:ln>
              <a:solidFill>
                <a:srgbClr val="DCE1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assets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448.4</c:v>
                </c:pt>
                <c:pt idx="1">
                  <c:v>455.9</c:v>
                </c:pt>
                <c:pt idx="2">
                  <c:v>514.5</c:v>
                </c:pt>
                <c:pt idx="3">
                  <c:v>566.9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19-46E1-8C55-FA1E024AE4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 receivables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35.700000000000003</c:v>
                </c:pt>
                <c:pt idx="1">
                  <c:v>36.6</c:v>
                </c:pt>
                <c:pt idx="2">
                  <c:v>43.6</c:v>
                </c:pt>
                <c:pt idx="3">
                  <c:v>51.1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19-46E1-8C55-FA1E024AE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DCE1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Americas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92.1</c:v>
                </c:pt>
                <c:pt idx="1">
                  <c:v>133.30000000000001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D6-4186-9247-4EECA57A99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 &amp; Africa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73.099999999999994</c:v>
                </c:pt>
                <c:pt idx="1">
                  <c:v>100.4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D6-4186-9247-4EECA57A99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48.1</c:v>
                </c:pt>
                <c:pt idx="1">
                  <c:v>53.3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D6-4186-9247-4EECA57A99F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Korea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2025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45.6</c:v>
                </c:pt>
                <c:pt idx="1">
                  <c:v>46.6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2D6-4186-9247-4EECA57A99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CE1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173192"/>
            <a:ext cx="73152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500" b="1">
                <a:solidFill>
                  <a:srgbClr val="A0C3EB"/>
                </a:solidFill>
                <a:latin typeface="Aptos"/>
              </a:defRPr>
            </a:pPr>
            <a:r>
              <a:rPr sz="5400">
                <a:latin typeface="Calibri"/>
                <a:ea typeface="Calibri"/>
                <a:cs typeface="Calibri"/>
              </a:rPr>
              <a:t>SAMSUNG ELECTRONICS</a:t>
            </a:r>
            <a:endParaRPr lang="en-US" sz="54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498210"/>
            <a:ext cx="9875520" cy="1046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Financial Performance,</a:t>
            </a:r>
            <a:br>
              <a:rPr dirty="0">
                <a:latin typeface="Calibri"/>
                <a:ea typeface="Calibri"/>
                <a:cs typeface="Calibri"/>
              </a:rPr>
            </a:br>
            <a:r>
              <a:rPr>
                <a:latin typeface="Calibri"/>
                <a:ea typeface="Calibri"/>
                <a:cs typeface="Calibri"/>
              </a:rPr>
              <a:t>Resilience &amp; Business-Segment Analysis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4014734"/>
            <a:ext cx="3657600" cy="3847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900" b="1">
                <a:solidFill>
                  <a:srgbClr val="CDDCEB"/>
                </a:solidFill>
                <a:latin typeface="Aptos"/>
              </a:defRPr>
            </a:pPr>
            <a:r>
              <a:rPr>
                <a:solidFill>
                  <a:srgbClr val="3FADC7"/>
                </a:solidFill>
                <a:latin typeface="Calibri"/>
                <a:ea typeface="Calibri"/>
                <a:cs typeface="Calibri"/>
              </a:rPr>
              <a:t>FY2022–FY2025</a:t>
            </a:r>
            <a:endParaRPr lang="en-US">
              <a:solidFill>
                <a:srgbClr val="3FADC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4537207"/>
            <a:ext cx="88696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0">
                <a:solidFill>
                  <a:srgbClr val="DCE4EC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The 2023 earnings shock, the recovery, remaining vulnerabilities, and practical responses.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5989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4C3"/>
                </a:solidFill>
                <a:latin typeface="Aptos"/>
              </a:defRPr>
            </a:pPr>
            <a:r>
              <a:t>Based on Samsung consolidated disclosures and the accompanying Excel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989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5B4C3"/>
                </a:solidFill>
                <a:latin typeface="Aptos"/>
              </a:defRPr>
            </a:pPr>
            <a:r>
              <a:t>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The financial story in one view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01 • EXECUTIVE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2578608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64008" cy="1325880"/>
          </a:xfrm>
          <a:prstGeom prst="rect">
            <a:avLst/>
          </a:prstGeom>
          <a:solidFill>
            <a:srgbClr val="20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124712"/>
            <a:ext cx="2304288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₩333.6T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2304288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2025 revenue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2304288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+10.4% vs 2022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64991" y="960120"/>
            <a:ext cx="2578608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4991" y="960120"/>
            <a:ext cx="64008" cy="1325880"/>
          </a:xfrm>
          <a:prstGeom prst="rect">
            <a:avLst/>
          </a:prstGeom>
          <a:solidFill>
            <a:srgbClr val="2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124712"/>
            <a:ext cx="2304288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₩43.6T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47872" y="1618488"/>
            <a:ext cx="2304288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2025 operating profit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47872" y="1920240"/>
            <a:ext cx="2304288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+0.5% vs 2022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27064" y="960120"/>
            <a:ext cx="2578608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7064" y="960120"/>
            <a:ext cx="64008" cy="1325880"/>
          </a:xfrm>
          <a:prstGeom prst="rect">
            <a:avLst/>
          </a:prstGeom>
          <a:solidFill>
            <a:srgbClr val="1F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1124712"/>
            <a:ext cx="2304288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13.1%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9944" y="1618488"/>
            <a:ext cx="2304288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2025 operating margin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9944" y="1920240"/>
            <a:ext cx="2304288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vs 14.4% in 2022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089136" y="960120"/>
            <a:ext cx="2578608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9136" y="960120"/>
            <a:ext cx="64008" cy="1325880"/>
          </a:xfrm>
          <a:prstGeom prst="rect">
            <a:avLst/>
          </a:prstGeom>
          <a:solidFill>
            <a:srgbClr val="2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2016" y="1124712"/>
            <a:ext cx="2304288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₩37.8T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72016" y="1618488"/>
            <a:ext cx="2304288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2025 free cash flow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72016" y="1920240"/>
            <a:ext cx="2304288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~3× 2022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2606040"/>
            <a:ext cx="59436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0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Strong recovery — but not a full return to 2022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3063240"/>
            <a:ext cx="5760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2023 was an earnings shock: revenue fell 14.3%, while operating profit fell 84.9%.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By 2025, operating profit was slightly above 2022 and gross margin had fully recovered.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Net income remained 18.8% below 2022; operating margin remained 1.3 points lower.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The balance sheet remains strong, but liquidity and asset-efficiency cushions have narrowed.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2697480"/>
            <a:ext cx="4709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6872" y="28072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DAA"/>
                </a:solidFill>
                <a:latin typeface="Aptos"/>
              </a:defRPr>
            </a:pPr>
            <a:r>
              <a:t>CORE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315468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Recovery is real. The next challenge is making earnings more resilient and capital more productive.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4023360"/>
            <a:ext cx="4709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76872" y="41330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9123"/>
                </a:solidFill>
                <a:latin typeface="Aptos"/>
              </a:defRPr>
            </a:pPr>
            <a:r>
              <a:t>MAIN EXPOSURES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448056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Semiconductor cyclicality • SG&amp;A intensity • rising liabilities • slower 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Revenue recovered — profit recovered faster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02 •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18872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25512" y="1298448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E3C3C"/>
                </a:solidFill>
                <a:latin typeface="Aptos"/>
              </a:defRPr>
            </a:pPr>
            <a:r>
              <a:t>2023 SHOCK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1645920"/>
            <a:ext cx="3977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Revenue −14.3% | Operating profit −84.9% | Net income −72.2%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56032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8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25512" y="2670048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8C5C"/>
                </a:solidFill>
                <a:latin typeface="Aptos"/>
              </a:defRPr>
            </a:pPr>
            <a:r>
              <a:t>2025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3017520"/>
            <a:ext cx="3977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Revenue +10.4% vs 2022 | Operating profit +0.5% vs 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931920"/>
            <a:ext cx="4297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512" y="4041648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9123"/>
                </a:solidFill>
                <a:latin typeface="Aptos"/>
              </a:defRPr>
            </a:pPr>
            <a:r>
              <a:t>BOTTOM-LINE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4389120"/>
            <a:ext cx="39776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2025 net income ₩45.2T — still 18.8% below 2022’s ₩55.7T.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15000"/>
            <a:ext cx="1078992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00" b="0">
                <a:solidFill>
                  <a:srgbClr val="5F6973"/>
                </a:solidFill>
                <a:latin typeface="Aptos"/>
              </a:defRPr>
            </a:pPr>
            <a:r>
              <a:rPr sz="1100">
                <a:solidFill>
                  <a:schemeClr val="accent1">
                    <a:lumMod val="76000"/>
                  </a:schemeClr>
                </a:solidFill>
              </a:rPr>
              <a:t>KRW trillion. The 2023 problem was disproportionately a profitability problem.</a:t>
            </a:r>
            <a:endParaRPr lang="en-US" sz="11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3</a:t>
            </a:r>
          </a:p>
        </p:txBody>
      </p:sp>
      <p:pic>
        <p:nvPicPr>
          <p:cNvPr id="19" name="Picture 18" descr="Figure 1: Revenue and profit, FY2022 to FY2025 (KRW trillion). Source: Samsung consolidated financial statements; author's calculations.&#10;Figure 1: Revenue and profit, FY2022 to FY2025 (KRW trillion). Source: Samsung consolidated financial statements; author's calculations.">
            <a:extLst>
              <a:ext uri="{FF2B5EF4-FFF2-40B4-BE49-F238E27FC236}">
                <a16:creationId xmlns:a16="http://schemas.microsoft.com/office/drawing/2014/main" id="{2BBF4C71-DC41-F515-8CA9-F5D1062DA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02" y="1108853"/>
            <a:ext cx="6606396" cy="3993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8617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Gross margin recovered; cost intensity is holding back operating margin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03 • PROFITABILITY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09728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18872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8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129844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8C5C"/>
                </a:solidFill>
                <a:latin typeface="Aptos"/>
              </a:defRPr>
            </a:pPr>
            <a:r>
              <a:t>GROSS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645920"/>
            <a:ext cx="3703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39.4% in 2025 vs 37.1% in 2022 — more than recovered.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560320"/>
            <a:ext cx="4023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267004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E3C3C"/>
                </a:solidFill>
                <a:latin typeface="Aptos"/>
              </a:defRPr>
            </a:pPr>
            <a:r>
              <a:t>SG&amp;A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017520"/>
            <a:ext cx="3703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SG&amp;A rose ₩68.8T → ₩87.8T (+27.5%), faster than revenue (+10.4%).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114800"/>
            <a:ext cx="4023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8392" y="422452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9123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572000"/>
            <a:ext cx="3703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Gross profitability improved, but the larger operating-cost base limits margin recovery.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Cash generation has become a major strength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04 • CASH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188720"/>
            <a:ext cx="4206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71231" y="1298448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E3C3C"/>
                </a:solidFill>
                <a:latin typeface="Aptos"/>
              </a:defRPr>
            </a:pPr>
            <a:r>
              <a:t>2023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645920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OCF ₩44.1T vs capex ₩57.6T → FCF −₩13.5T.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560320"/>
            <a:ext cx="4206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8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1231" y="2670048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8C5C"/>
                </a:solidFill>
                <a:latin typeface="Aptos"/>
              </a:defRPr>
            </a:pPr>
            <a:r>
              <a:t>2025 TURNAROUND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3017520"/>
            <a:ext cx="3886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OCF ₩85.3T; capex ₩47.5T → FCF ₩37.8T.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931920"/>
            <a:ext cx="4206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71231" y="4041648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DAA"/>
                </a:solidFill>
                <a:latin typeface="Aptos"/>
              </a:defRPr>
            </a:pPr>
            <a:r>
              <a:t>ACTION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4389120"/>
            <a:ext cx="3886200" cy="4462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rPr dirty="0"/>
              <a:t>Link major capex decisions to expected cash-flow returns and capacity </a:t>
            </a:r>
            <a:r>
              <a:rPr lang="en-US"/>
              <a:t>utilization</a:t>
            </a:r>
            <a:r>
              <a:rPr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15000"/>
            <a:ext cx="1078992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rPr sz="1100">
                <a:solidFill>
                  <a:schemeClr val="accent1">
                    <a:lumMod val="76000"/>
                  </a:schemeClr>
                </a:solidFill>
              </a:rPr>
              <a:t>FCF here = operating cash flow − PP&amp;E purchases; intangible-asset purchases are excluded.</a:t>
            </a:r>
            <a:endParaRPr lang="en-US" sz="11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5</a:t>
            </a:r>
          </a:p>
        </p:txBody>
      </p:sp>
      <p:pic>
        <p:nvPicPr>
          <p:cNvPr id="18" name="Picture 17" descr="Figure 4: Operating cash flow, capital expenditure and free cash flow (KRW trillion). Source: Samsung consolidated statements of cash flows; author's calculations.&#10;Figure 4: Operating cash flow, capital expenditure and free cash flow (KRW trillion). Source: Samsung consolidated statements of cash flows; author's calculations.">
            <a:extLst>
              <a:ext uri="{FF2B5EF4-FFF2-40B4-BE49-F238E27FC236}">
                <a16:creationId xmlns:a16="http://schemas.microsoft.com/office/drawing/2014/main" id="{FA555402-78DC-0CD3-3593-146F737C2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02" y="1195118"/>
            <a:ext cx="6520131" cy="41370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The balance sheet is strong — the cushion is gradually narrowing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05 • FINANCIAL 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33931"/>
            <a:ext cx="2578608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4165" y="1333931"/>
            <a:ext cx="64008" cy="1325880"/>
          </a:xfrm>
          <a:prstGeom prst="rect">
            <a:avLst/>
          </a:prstGeom>
          <a:solidFill>
            <a:srgbClr val="20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9769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t>2.33x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413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t>2025 current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50919"/>
            <a:ext cx="23042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t>2.79x in 2022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1333931"/>
            <a:ext cx="2578608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4991" y="1333931"/>
            <a:ext cx="64008" cy="1325880"/>
          </a:xfrm>
          <a:prstGeom prst="rect">
            <a:avLst/>
          </a:prstGeom>
          <a:solidFill>
            <a:srgbClr val="1F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469769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t>1.83x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920413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t>2025 quick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250919"/>
            <a:ext cx="23042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t>2.12x in 2022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0196" y="1333931"/>
            <a:ext cx="2578608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0196" y="1333931"/>
            <a:ext cx="64008" cy="1325880"/>
          </a:xfrm>
          <a:prstGeom prst="rect">
            <a:avLst/>
          </a:prstGeom>
          <a:solidFill>
            <a:srgbClr val="DC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1469769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t>29.9%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920413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t>Liabilities / equity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250919"/>
            <a:ext cx="23042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t>26.4% in 2022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1333931"/>
            <a:ext cx="2578608" cy="132588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9136" y="1333931"/>
            <a:ext cx="64008" cy="1325880"/>
          </a:xfrm>
          <a:prstGeom prst="rect">
            <a:avLst/>
          </a:prstGeom>
          <a:solidFill>
            <a:srgbClr val="28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2016" y="1469769"/>
            <a:ext cx="23042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t>₩566.9T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1920413"/>
            <a:ext cx="23042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F6973"/>
                </a:solidFill>
                <a:latin typeface="Aptos"/>
              </a:defRPr>
            </a:pPr>
            <a:r>
              <a:t>2025 total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250919"/>
            <a:ext cx="23042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t>+26.4% vs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851" y="31170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E32"/>
                </a:solidFill>
                <a:latin typeface="Aptos"/>
              </a:defRPr>
            </a:pPr>
            <a:r>
              <a:t>What changed?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948" y="3502325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Current liabilities grew 35.8% from 2022–2025, faster than current assets (+13.4%).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Total liabilities rose 39.4%, while equity rose 23.0%.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Cash and cash equivalents were still 16.5% above 2022 — this is not a liquidity crisis.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088257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21236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DAA"/>
                </a:solidFill>
                <a:latin typeface="Aptos"/>
              </a:defRPr>
            </a:pPr>
            <a:r>
              <a:t>READ IT CORRECTLY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3617343"/>
            <a:ext cx="4754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The issue is a thinner cushion, not financial distress.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416724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8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45552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8C5C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830793"/>
            <a:ext cx="4754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Monitor liquidity floors, short-term obligations and working capital together.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Capital is growing faster than the sales it supports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06 • EFFICIENCY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097280"/>
          <a:ext cx="60350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118872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68312" y="129844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9123"/>
                </a:solidFill>
                <a:latin typeface="Aptos"/>
              </a:defRPr>
            </a:pPr>
            <a:r>
              <a:t>ASSET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8312" y="1645920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Assets +26.4% vs revenue +10.4% (2022–2025).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56032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267004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E3C3C"/>
                </a:solidFill>
                <a:latin typeface="Aptos"/>
              </a:defRPr>
            </a:pPr>
            <a:r>
              <a:t>RECEIVABLES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3017520"/>
            <a:ext cx="4251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Trade receivables +43.1%; year-end turnover fell 8.46x → 6.52x.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931920"/>
            <a:ext cx="4572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68312" y="404164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DAA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4389120"/>
            <a:ext cx="4251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Average-balance turnover is more stable. Treat receivables as a watch item, not proof of collection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The recovery is increasingly semiconductor-led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07 • BUSINESS MIX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188720"/>
            <a:ext cx="4160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8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25512" y="12984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8C5C"/>
                </a:solidFill>
                <a:latin typeface="Aptos"/>
              </a:defRPr>
            </a:pPr>
            <a:r>
              <a:t>DS: GROWTH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164592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Sales +95.3% from 2023–2025; share 23.6% → 35.8%.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560320"/>
            <a:ext cx="4160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25512" y="26700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DAA"/>
                </a:solidFill>
                <a:latin typeface="Aptos"/>
              </a:defRPr>
            </a:pPr>
            <a:r>
              <a:t>DX: STILL LARGEST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301752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Sales +10.6%; share 60.3% → 51.7%.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931920"/>
            <a:ext cx="4160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512" y="40416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E3C3C"/>
                </a:solidFill>
                <a:latin typeface="Aptos"/>
              </a:defRPr>
            </a:pPr>
            <a:r>
              <a:t>SDC: LAGGING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438912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Sales −3.9%; share 11.0% → 8.2%.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15000"/>
            <a:ext cx="1088136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rPr sz="1100">
                <a:solidFill>
                  <a:schemeClr val="accent1">
                    <a:lumMod val="76000"/>
                  </a:schemeClr>
                </a:solidFill>
              </a:rPr>
              <a:t>Divisional sales are before intercompany eliminations; 2025 divisional totals exceed consolidated revenue.</a:t>
            </a:r>
            <a:endParaRPr lang="en-US" sz="11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8</a:t>
            </a:r>
          </a:p>
        </p:txBody>
      </p:sp>
      <p:pic>
        <p:nvPicPr>
          <p:cNvPr id="19" name="Picture 18" descr="Figure 6: Divisional sales, 2023 to 2025 (KRW trillion, before intercompany eliminations). Source: Samsung Facts &amp; Figures.&#10;Figure 6: Divisional sales, 2023 to 2025 (KRW trillion, before intercompany eliminations). Source: Samsung Facts &amp; Figures.">
            <a:extLst>
              <a:ext uri="{FF2B5EF4-FFF2-40B4-BE49-F238E27FC236}">
                <a16:creationId xmlns:a16="http://schemas.microsoft.com/office/drawing/2014/main" id="{0A3F807E-3D23-332D-E5C9-E4727E3A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02" y="1189818"/>
            <a:ext cx="6620773" cy="38601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0642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Growth is strongest in the Americas and Asia &amp; Africa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08 • GEOGRAPHY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44277"/>
              </p:ext>
            </p:extLst>
          </p:nvPr>
        </p:nvGraphicFramePr>
        <p:xfrm>
          <a:off x="589184" y="1183544"/>
          <a:ext cx="6451696" cy="4403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188720"/>
            <a:ext cx="4251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79792" y="12984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DAA"/>
                </a:solidFill>
                <a:latin typeface="Aptos"/>
              </a:defRPr>
            </a:pPr>
            <a:r>
              <a:t>AMERICAS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64592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₩92.1T → ₩133.3T | +44.7% | 40.0% of 2025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560320"/>
            <a:ext cx="4251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F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9792" y="26700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8584"/>
                </a:solidFill>
                <a:latin typeface="Aptos"/>
              </a:defRPr>
            </a:pPr>
            <a:r>
              <a:t>ASIA &amp; 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01752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₩73.1T → ₩100.4T | +37.3% | 30.1% of 2025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31920"/>
            <a:ext cx="4251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79792" y="40416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9123"/>
                </a:solidFill>
                <a:latin typeface="Aptos"/>
              </a:defRPr>
            </a:pPr>
            <a:r>
              <a:t>SLOWER REGIONS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38912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t>Europe +10.8%; Korea +2.2% — slower than the two leading growth regions.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15000"/>
            <a:ext cx="1078992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00" b="0">
                <a:solidFill>
                  <a:srgbClr val="5F6973"/>
                </a:solidFill>
                <a:latin typeface="Aptos"/>
              </a:defRPr>
            </a:pPr>
            <a:r>
              <a:rPr sz="1100">
                <a:solidFill>
                  <a:schemeClr val="accent1">
                    <a:lumMod val="76000"/>
                  </a:schemeClr>
                </a:solidFill>
              </a:rPr>
              <a:t>Regional sales reconcile to consolidated revenue, so these shares are directly comparable.</a:t>
            </a:r>
            <a:endParaRPr lang="en-US" sz="11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From evidence to action: four priorities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09 •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349240" cy="205740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8C5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80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E32"/>
                </a:solidFill>
                <a:latin typeface="Aptos"/>
              </a:defRPr>
            </a:pPr>
            <a:r>
              <a:t>EARNINGS 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733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8C5C"/>
                </a:solidFill>
                <a:latin typeface="Aptos"/>
              </a:defRPr>
            </a:pPr>
            <a:r>
              <a:t>Reduce sensitivity to one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574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82D"/>
                </a:solidFill>
                <a:latin typeface="Aptos"/>
              </a:defRPr>
            </a:pPr>
            <a:r>
              <a:t>Higher-value semiconductors</a:t>
            </a:r>
            <a:br/>
            <a:r>
              <a:t>Recurring/service revenue in DX &amp; Harman</a:t>
            </a:r>
            <a:br/>
            <a:r>
              <a:t>Flexible cost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43000"/>
            <a:ext cx="5349240" cy="205740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5DA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280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E32"/>
                </a:solidFill>
                <a:latin typeface="Aptos"/>
              </a:defRPr>
            </a:pPr>
            <a:r>
              <a:t>WORKING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733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DAA"/>
                </a:solidFill>
                <a:latin typeface="Aptos"/>
              </a:defRPr>
            </a:pPr>
            <a:r>
              <a:t>Protect the liquidity cushion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0574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82D"/>
                </a:solidFill>
                <a:latin typeface="Aptos"/>
              </a:defRPr>
            </a:pPr>
            <a:r>
              <a:t>Track DSO by customer/region</a:t>
            </a:r>
            <a:br/>
            <a:r>
              <a:t>Review credit &amp; payment terms</a:t>
            </a:r>
            <a:br/>
            <a:r>
              <a:t>Manage inventory + receivables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5349240" cy="205740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7033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91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E32"/>
                </a:solidFill>
                <a:latin typeface="Aptos"/>
              </a:defRPr>
            </a:pPr>
            <a:r>
              <a:t>CAPITAL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96511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9123"/>
                </a:solidFill>
                <a:latin typeface="Aptos"/>
              </a:defRPr>
            </a:pPr>
            <a:r>
              <a:t>Make growth more cash-efficient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80560"/>
            <a:ext cx="4297680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23282D"/>
                </a:solidFill>
                <a:latin typeface="Aptos"/>
              </a:defRPr>
            </a:pPr>
            <a:r>
              <a:rPr dirty="0"/>
              <a:t>Test capex against cash-flow returns</a:t>
            </a:r>
            <a:br>
              <a:rPr dirty="0"/>
            </a:br>
            <a:r>
              <a:rPr dirty="0"/>
              <a:t>Track post-investment </a:t>
            </a:r>
            <a:r>
              <a:rPr lang="en-US"/>
              <a:t>utilization</a:t>
            </a:r>
            <a:br>
              <a:rPr dirty="0"/>
            </a:br>
            <a:r>
              <a:t>Separate R&amp;D from overhead 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66160"/>
            <a:ext cx="5349240" cy="2057400"/>
          </a:xfrm>
          <a:prstGeom prst="round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85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703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E32"/>
                </a:solidFill>
                <a:latin typeface="Aptos"/>
              </a:defRPr>
            </a:pPr>
            <a:r>
              <a:t>STRENGTHEN SLOWER BUSINESSES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096511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8584"/>
                </a:solidFill>
                <a:latin typeface="Aptos"/>
              </a:defRPr>
            </a:pPr>
            <a:r>
              <a:t>Improve growth &amp; margin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4805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82D"/>
                </a:solidFill>
                <a:latin typeface="Aptos"/>
              </a:defRPr>
            </a:pPr>
            <a:r>
              <a:t>Premium / automotive displays</a:t>
            </a:r>
            <a:br/>
            <a:r>
              <a:t>Premium DX mix + services</a:t>
            </a:r>
            <a:br/>
            <a:r>
              <a:t>Allocate capital using divisional profitability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078992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  <a:latin typeface="Aptos"/>
              </a:defRPr>
            </a:pPr>
            <a:r>
              <a:rPr sz="1100">
                <a:solidFill>
                  <a:schemeClr val="accent1">
                    <a:lumMod val="76000"/>
                  </a:schemeClr>
                </a:solidFill>
              </a:rPr>
              <a:t>Analytical recommendations derived from the report’s evidence — not claims about Samsung’s adopted strategy.</a:t>
            </a:r>
            <a:endParaRPr lang="en-US" sz="11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961120" cy="4770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500" b="1">
                <a:solidFill>
                  <a:srgbClr val="0F1E32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Make the recommendations measurable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347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  <a:latin typeface="Aptos"/>
              </a:defRPr>
            </a:pPr>
            <a:r>
              <a:t>10 • ACTION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96" y="988875"/>
            <a:ext cx="475488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000" b="1">
                <a:solidFill>
                  <a:srgbClr val="0F1E32"/>
                </a:solidFill>
                <a:latin typeface="Aptos"/>
              </a:defRPr>
            </a:pPr>
            <a:r>
              <a:rPr>
                <a:solidFill>
                  <a:srgbClr val="254061"/>
                </a:solidFill>
                <a:latin typeface="Calibri"/>
                <a:ea typeface="Calibri"/>
                <a:cs typeface="Calibri"/>
              </a:rPr>
              <a:t>Management-style action tracker</a:t>
            </a:r>
            <a:endParaRPr lang="en-US">
              <a:solidFill>
                <a:srgbClr val="2540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2743200" cy="50292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618488"/>
            <a:ext cx="25603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400"/>
              <a:t>Problem signal</a:t>
            </a:r>
            <a:endParaRPr lang="en-US" sz="1400"/>
          </a:p>
        </p:txBody>
      </p:sp>
      <p:sp>
        <p:nvSpPr>
          <p:cNvPr id="9" name="Rectangle 8"/>
          <p:cNvSpPr/>
          <p:nvPr/>
        </p:nvSpPr>
        <p:spPr>
          <a:xfrm>
            <a:off x="3337560" y="1508760"/>
            <a:ext cx="3931920" cy="50292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618488"/>
            <a:ext cx="374903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400"/>
              <a:t>Action</a:t>
            </a:r>
            <a:endParaRPr lang="en-US" sz="1400"/>
          </a:p>
        </p:txBody>
      </p:sp>
      <p:sp>
        <p:nvSpPr>
          <p:cNvPr id="11" name="Rectangle 10"/>
          <p:cNvSpPr/>
          <p:nvPr/>
        </p:nvSpPr>
        <p:spPr>
          <a:xfrm>
            <a:off x="7269480" y="1508760"/>
            <a:ext cx="3977639" cy="50292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79208" y="1618488"/>
            <a:ext cx="379475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400"/>
              <a:t>Track every quarter</a:t>
            </a:r>
            <a:endParaRPr lang="en-US" sz="1400"/>
          </a:p>
        </p:txBody>
      </p:sp>
      <p:sp>
        <p:nvSpPr>
          <p:cNvPr id="13" name="Rectangle 12"/>
          <p:cNvSpPr/>
          <p:nvPr/>
        </p:nvSpPr>
        <p:spPr>
          <a:xfrm>
            <a:off x="594360" y="2011680"/>
            <a:ext cx="27432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103120"/>
            <a:ext cx="256032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1">
                <a:solidFill>
                  <a:srgbClr val="23282D"/>
                </a:solidFill>
                <a:latin typeface="Aptos"/>
              </a:defRPr>
            </a:pPr>
            <a:r>
              <a:rPr sz="1200"/>
              <a:t>Operating margin 13.1% vs 14.4%</a:t>
            </a:r>
            <a:endParaRPr lang="en-US" sz="1200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39319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47288" y="2103120"/>
            <a:ext cx="374903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/>
              <a:t>Control SG&amp;A intensity; test R&amp;D returns</a:t>
            </a:r>
            <a:endParaRPr lang="en-US" sz="1200"/>
          </a:p>
        </p:txBody>
      </p:sp>
      <p:sp>
        <p:nvSpPr>
          <p:cNvPr id="17" name="Rectangle 16"/>
          <p:cNvSpPr/>
          <p:nvPr/>
        </p:nvSpPr>
        <p:spPr>
          <a:xfrm>
            <a:off x="7269480" y="2011680"/>
            <a:ext cx="3977639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9208" y="2103120"/>
            <a:ext cx="379475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/>
              <a:t>Operating margin + SG&amp;A / sales</a:t>
            </a:r>
            <a:endParaRPr lang="en-US" sz="1200"/>
          </a:p>
        </p:txBody>
      </p:sp>
      <p:sp>
        <p:nvSpPr>
          <p:cNvPr id="19" name="Rectangle 18"/>
          <p:cNvSpPr/>
          <p:nvPr/>
        </p:nvSpPr>
        <p:spPr>
          <a:xfrm>
            <a:off x="594360" y="2788920"/>
            <a:ext cx="2743200" cy="777240"/>
          </a:xfrm>
          <a:prstGeom prst="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2880360"/>
            <a:ext cx="25603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1">
                <a:solidFill>
                  <a:srgbClr val="23282D"/>
                </a:solidFill>
                <a:latin typeface="Aptos"/>
              </a:defRPr>
            </a:pPr>
            <a:r>
              <a:rPr sz="1200"/>
              <a:t>Receivables +43.1% vs sales +10.4%</a:t>
            </a:r>
            <a:endParaRPr lang="en-US" sz="1200"/>
          </a:p>
        </p:txBody>
      </p:sp>
      <p:sp>
        <p:nvSpPr>
          <p:cNvPr id="21" name="Rectangle 20"/>
          <p:cNvSpPr/>
          <p:nvPr/>
        </p:nvSpPr>
        <p:spPr>
          <a:xfrm>
            <a:off x="3337560" y="2788920"/>
            <a:ext cx="3931920" cy="777240"/>
          </a:xfrm>
          <a:prstGeom prst="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47288" y="2880360"/>
            <a:ext cx="374903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/>
              <a:t>Tighten terms &amp; collection discipline</a:t>
            </a:r>
            <a:endParaRPr lang="en-US" sz="1200"/>
          </a:p>
        </p:txBody>
      </p:sp>
      <p:sp>
        <p:nvSpPr>
          <p:cNvPr id="23" name="Rectangle 22"/>
          <p:cNvSpPr/>
          <p:nvPr/>
        </p:nvSpPr>
        <p:spPr>
          <a:xfrm>
            <a:off x="7269480" y="2788920"/>
            <a:ext cx="3977639" cy="777240"/>
          </a:xfrm>
          <a:prstGeom prst="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79208" y="2880360"/>
            <a:ext cx="379475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/>
              <a:t>DSO + ageing + overdue share</a:t>
            </a:r>
            <a:endParaRPr lang="en-US" sz="1200"/>
          </a:p>
        </p:txBody>
      </p:sp>
      <p:sp>
        <p:nvSpPr>
          <p:cNvPr id="25" name="Rectangle 24"/>
          <p:cNvSpPr/>
          <p:nvPr/>
        </p:nvSpPr>
        <p:spPr>
          <a:xfrm>
            <a:off x="594360" y="3566160"/>
            <a:ext cx="27432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3657600"/>
            <a:ext cx="256032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1">
                <a:solidFill>
                  <a:srgbClr val="23282D"/>
                </a:solidFill>
                <a:latin typeface="Aptos"/>
              </a:defRPr>
            </a:pPr>
            <a:r>
              <a:rPr sz="1200"/>
              <a:t>Assets +26.4% vs sales +10.4%</a:t>
            </a:r>
            <a:endParaRPr lang="en-US" sz="1200"/>
          </a:p>
        </p:txBody>
      </p:sp>
      <p:sp>
        <p:nvSpPr>
          <p:cNvPr id="27" name="Rectangle 26"/>
          <p:cNvSpPr/>
          <p:nvPr/>
        </p:nvSpPr>
        <p:spPr>
          <a:xfrm>
            <a:off x="3337560" y="3566160"/>
            <a:ext cx="39319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47288" y="3657600"/>
            <a:ext cx="374903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 dirty="0"/>
              <a:t>Raise </a:t>
            </a:r>
            <a:r>
              <a:rPr lang="en-US" sz="1200"/>
              <a:t>utilization</a:t>
            </a:r>
            <a:r>
              <a:rPr sz="1200" dirty="0"/>
              <a:t> / investment hurdle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7269480" y="3566160"/>
            <a:ext cx="3977639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79208" y="3657600"/>
            <a:ext cx="379475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/>
              <a:t>Asset turnover + capacity use</a:t>
            </a:r>
            <a:endParaRPr lang="en-US" sz="1200"/>
          </a:p>
        </p:txBody>
      </p:sp>
      <p:sp>
        <p:nvSpPr>
          <p:cNvPr id="31" name="Rectangle 30"/>
          <p:cNvSpPr/>
          <p:nvPr/>
        </p:nvSpPr>
        <p:spPr>
          <a:xfrm>
            <a:off x="594360" y="4343400"/>
            <a:ext cx="2743200" cy="777240"/>
          </a:xfrm>
          <a:prstGeom prst="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" y="4434840"/>
            <a:ext cx="256032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1">
                <a:solidFill>
                  <a:srgbClr val="23282D"/>
                </a:solidFill>
                <a:latin typeface="Aptos"/>
              </a:defRPr>
            </a:pPr>
            <a:r>
              <a:rPr sz="1200"/>
              <a:t>DS share 35.8% of divisional sales</a:t>
            </a:r>
            <a:endParaRPr lang="en-US" sz="1200"/>
          </a:p>
        </p:txBody>
      </p:sp>
      <p:sp>
        <p:nvSpPr>
          <p:cNvPr id="33" name="Rectangle 32"/>
          <p:cNvSpPr/>
          <p:nvPr/>
        </p:nvSpPr>
        <p:spPr>
          <a:xfrm>
            <a:off x="3337560" y="4343400"/>
            <a:ext cx="3931920" cy="777240"/>
          </a:xfrm>
          <a:prstGeom prst="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47288" y="4434840"/>
            <a:ext cx="374903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/>
              <a:t>Build higher-value &amp; non-memory exposure</a:t>
            </a:r>
            <a:endParaRPr lang="en-US" sz="1200"/>
          </a:p>
        </p:txBody>
      </p:sp>
      <p:sp>
        <p:nvSpPr>
          <p:cNvPr id="35" name="Rectangle 34"/>
          <p:cNvSpPr/>
          <p:nvPr/>
        </p:nvSpPr>
        <p:spPr>
          <a:xfrm>
            <a:off x="7269480" y="4343400"/>
            <a:ext cx="3977639" cy="777240"/>
          </a:xfrm>
          <a:prstGeom prst="rect">
            <a:avLst/>
          </a:prstGeom>
          <a:solidFill>
            <a:srgbClr val="F5F7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79208" y="4434840"/>
            <a:ext cx="379475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/>
              <a:t>Mix + margin by business</a:t>
            </a:r>
            <a:endParaRPr lang="en-US" sz="1200"/>
          </a:p>
        </p:txBody>
      </p:sp>
      <p:sp>
        <p:nvSpPr>
          <p:cNvPr id="37" name="Rectangle 36"/>
          <p:cNvSpPr/>
          <p:nvPr/>
        </p:nvSpPr>
        <p:spPr>
          <a:xfrm>
            <a:off x="594360" y="5120640"/>
            <a:ext cx="27432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79"/>
            <a:ext cx="256032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1">
                <a:solidFill>
                  <a:srgbClr val="23282D"/>
                </a:solidFill>
                <a:latin typeface="Aptos"/>
              </a:defRPr>
            </a:pPr>
            <a:r>
              <a:rPr sz="1200"/>
              <a:t>SDC sales −3.9%</a:t>
            </a:r>
            <a:endParaRPr lang="en-US" sz="1200"/>
          </a:p>
        </p:txBody>
      </p:sp>
      <p:sp>
        <p:nvSpPr>
          <p:cNvPr id="39" name="Rectangle 38"/>
          <p:cNvSpPr/>
          <p:nvPr/>
        </p:nvSpPr>
        <p:spPr>
          <a:xfrm>
            <a:off x="3337560" y="5120640"/>
            <a:ext cx="39319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47288" y="5212079"/>
            <a:ext cx="374903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lang="en-US" sz="1200"/>
              <a:t>Prioritize</a:t>
            </a:r>
            <a:r>
              <a:rPr sz="1200" dirty="0"/>
              <a:t> higher-growth display uses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7269480" y="5120640"/>
            <a:ext cx="3977639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79208" y="5212079"/>
            <a:ext cx="379475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30" b="0">
                <a:solidFill>
                  <a:srgbClr val="23282D"/>
                </a:solidFill>
                <a:latin typeface="Aptos"/>
              </a:defRPr>
            </a:pPr>
            <a:r>
              <a:rPr sz="1200"/>
              <a:t>Sales growth + divisional profitability</a:t>
            </a:r>
            <a:endParaRPr lang="en-US" sz="1200"/>
          </a:p>
        </p:txBody>
      </p:sp>
      <p:sp>
        <p:nvSpPr>
          <p:cNvPr id="43" name="TextBox 42"/>
          <p:cNvSpPr txBox="1"/>
          <p:nvPr/>
        </p:nvSpPr>
        <p:spPr>
          <a:xfrm>
            <a:off x="594360" y="6053328"/>
            <a:ext cx="1078992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1">
                <a:solidFill>
                  <a:srgbClr val="205DAA"/>
                </a:solidFill>
                <a:latin typeface="Aptos"/>
              </a:defRPr>
            </a:pPr>
            <a:r>
              <a:rPr>
                <a:solidFill>
                  <a:schemeClr val="accent1">
                    <a:lumMod val="76000"/>
                  </a:schemeClr>
                </a:solidFill>
              </a:rPr>
              <a:t>Turn a financial finding into a repeatable monitoring system.</a:t>
            </a:r>
            <a:endParaRPr lang="en-US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3"/>
                </a:solidFill>
                <a:latin typeface="Aptos"/>
              </a:defRPr>
            </a:pPr>
            <a:r>
              <a:t>Samsung Electronics Financial Analysis • FY2022–FY2025     |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36576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00" b="1">
                <a:solidFill>
                  <a:srgbClr val="96C3EB"/>
                </a:solidFill>
                <a:latin typeface="Aptos"/>
              </a:defRPr>
            </a:pPr>
            <a:r>
              <a:rPr sz="16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FINAL TAKEAWAY</a:t>
            </a:r>
            <a:endParaRPr lang="en-US" sz="16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9966960" cy="1046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Calibri"/>
                <a:ea typeface="Calibri"/>
                <a:cs typeface="Calibri"/>
              </a:rPr>
              <a:t>Samsung is financially strong in 2025 —</a:t>
            </a:r>
            <a:br>
              <a:rPr dirty="0">
                <a:latin typeface="Calibri"/>
                <a:ea typeface="Calibri"/>
                <a:cs typeface="Calibri"/>
              </a:rPr>
            </a:br>
            <a:r>
              <a:rPr>
                <a:latin typeface="Calibri"/>
                <a:ea typeface="Calibri"/>
                <a:cs typeface="Calibri"/>
              </a:rPr>
              <a:t>but resilience is the next test.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6583680" cy="17466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Operating profit and free cash flow have recovered strongly.</a:t>
            </a:r>
            <a:endParaRPr lang="en-US">
              <a:solidFill>
                <a:schemeClr val="bg1"/>
              </a:solidFill>
            </a:endParaRP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Gross margin is above 2022, but operating margin has not fully returned because SG&amp;A intensity remains high.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The balance sheet remains conservative, yet liquidity and efficiency cushions have narrowed.</a:t>
            </a:r>
          </a:p>
          <a:p>
            <a:pPr>
              <a:spcAft>
                <a:spcPts val="7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• The recovery is increasingly semiconductor-led, while SDC has lagged.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83464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20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82712" y="294436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05DAA"/>
                </a:solidFill>
                <a:latin typeface="Aptos"/>
              </a:defRPr>
            </a:pPr>
            <a:r>
              <a:t>RESEARCH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2" y="3291840"/>
            <a:ext cx="3246120" cy="8002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50" b="0">
                <a:solidFill>
                  <a:srgbClr val="23282D"/>
                </a:solidFill>
                <a:latin typeface="Aptos"/>
              </a:defRPr>
            </a:pPr>
            <a:r>
              <a:rPr lang="en-US"/>
              <a:t>Prioritize</a:t>
            </a:r>
            <a:r>
              <a:rPr dirty="0"/>
              <a:t> earnings diversification, working-capital discipline, capital productivity and stronger performance from slower-growing businesses.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5B4C3"/>
                </a:solidFill>
                <a:latin typeface="Aptos"/>
              </a:defRPr>
            </a:pPr>
            <a:r>
              <a:t>Descriptive and diagnostic analysis, FY2022–FY2025. No forecast, valuation or investment recommendation.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850900"/>
            <a:ext cx="5397500" cy="1459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610"/>
              </a:lnSpc>
            </a:pPr>
            <a:r>
              <a:rPr lang="en-US" sz="5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League Spartan"/>
              </a:rPr>
              <a:t>Thank you.</a:t>
            </a:r>
            <a:endParaRPr lang="en-US" sz="55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ts val="5610"/>
              </a:lnSpc>
            </a:pPr>
            <a:r>
              <a:rPr lang="en-US" sz="5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League Spartan"/>
              </a:rPr>
              <a:t>Questions?</a:t>
            </a:r>
            <a:endParaRPr lang="en-US" sz="55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98500" y="2711450"/>
            <a:ext cx="4953000" cy="241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957"/>
              </a:lnSpc>
            </a:pPr>
            <a:r>
              <a:rPr lang="en-US" sz="1450">
                <a:solidFill>
                  <a:srgbClr val="35B6D4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is a descriptive educational analysis, not investment advice.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159500" y="762000"/>
            <a:ext cx="25400" cy="4635500"/>
            <a:chOff x="0" y="0"/>
            <a:chExt cx="50800" cy="9271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00" cy="9271000"/>
            </a:xfrm>
            <a:custGeom>
              <a:avLst/>
              <a:gdLst/>
              <a:ahLst/>
              <a:cxnLst/>
              <a:rect l="l" t="t" r="r" b="b"/>
              <a:pathLst>
                <a:path w="50800" h="9271000">
                  <a:moveTo>
                    <a:pt x="0" y="0"/>
                  </a:moveTo>
                  <a:lnTo>
                    <a:pt x="50800" y="0"/>
                  </a:lnTo>
                  <a:lnTo>
                    <a:pt x="50800" y="9271000"/>
                  </a:lnTo>
                  <a:lnTo>
                    <a:pt x="0" y="9271000"/>
                  </a:lnTo>
                  <a:close/>
                </a:path>
              </a:pathLst>
            </a:custGeom>
            <a:solidFill>
              <a:srgbClr val="3FADC7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0800" cy="93091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19"/>
                </a:lnSpc>
              </a:pPr>
              <a:endParaRPr sz="8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731000" y="1007973"/>
            <a:ext cx="381000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750"/>
              </a:lnSpc>
            </a:pPr>
            <a:r>
              <a:rPr lang="en-US" sz="1600" b="1" spc="100">
                <a:solidFill>
                  <a:srgbClr val="FFFF00"/>
                </a:solidFill>
                <a:latin typeface="Calibri"/>
                <a:ea typeface="Calibri"/>
                <a:cs typeface="Calibri"/>
                <a:sym typeface="Source Sans 3 Bold"/>
              </a:rPr>
              <a:t>LIMITATIONS</a:t>
            </a:r>
            <a:endParaRPr lang="en-US" sz="1600" b="1" spc="1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31000" y="1466850"/>
            <a:ext cx="4445000" cy="151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92"/>
              </a:lnSpc>
            </a:pPr>
            <a:r>
              <a:rPr lang="en-US" sz="14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Four-year window only</a:t>
            </a:r>
          </a:p>
          <a:p>
            <a:pPr algn="l">
              <a:lnSpc>
                <a:spcPts val="2392"/>
              </a:lnSpc>
            </a:pPr>
            <a:r>
              <a:rPr lang="en-US" sz="14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Segment sales without full profit breakdown</a:t>
            </a:r>
          </a:p>
          <a:p>
            <a:pPr algn="l">
              <a:lnSpc>
                <a:spcPts val="2392"/>
              </a:lnSpc>
            </a:pPr>
            <a:r>
              <a:rPr lang="en-US" sz="14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Liabilities-based leverage measure</a:t>
            </a:r>
          </a:p>
          <a:p>
            <a:pPr algn="l">
              <a:lnSpc>
                <a:spcPts val="2392"/>
              </a:lnSpc>
            </a:pPr>
            <a:r>
              <a:rPr lang="en-US" sz="14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Simplified free cash flow excluding intangibles</a:t>
            </a:r>
          </a:p>
          <a:p>
            <a:pPr algn="l">
              <a:lnSpc>
                <a:spcPts val="2392"/>
              </a:lnSpc>
            </a:pPr>
            <a:r>
              <a:rPr lang="en-US" sz="14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detailed net income decomposition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5822950"/>
            <a:ext cx="5080000" cy="193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552"/>
              </a:lnSpc>
            </a:pPr>
            <a:r>
              <a:rPr lang="en-US" sz="1150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Educational Analysis  ·  </a:t>
            </a:r>
            <a:r>
              <a:rPr lang="en-US" sz="11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September</a:t>
            </a:r>
            <a:r>
              <a:rPr lang="en-US" sz="1150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96656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282</cp:revision>
  <dcterms:created xsi:type="dcterms:W3CDTF">2013-01-27T09:14:16Z</dcterms:created>
  <dcterms:modified xsi:type="dcterms:W3CDTF">2026-10-15T21:32:48Z</dcterms:modified>
  <cp:category/>
</cp:coreProperties>
</file>